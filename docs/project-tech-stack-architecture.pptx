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058400" cy="3840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100" b="1">
                <a:solidFill>
                  <a:srgbClr val="1F7A8C"/>
                </a:solidFill>
                <a:latin typeface="Aptos"/>
              </a:rPr>
              <a:t>Apache Iceberg Local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43584"/>
            <a:ext cx="9966960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000" b="1">
                <a:solidFill>
                  <a:srgbClr val="17324D"/>
                </a:solidFill>
                <a:latin typeface="Aptos"/>
              </a:rPr>
              <a:t>Tech Stack and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93268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5C6A7A"/>
                </a:solidFill>
                <a:latin typeface="Aptos"/>
              </a:rPr>
              <a:t>A team overview of the local reference architecture, main components, data flow, and demo pipelines.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03320"/>
            <a:ext cx="306324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3703320"/>
            <a:ext cx="73152" cy="658368"/>
          </a:xfrm>
          <a:prstGeom prst="rect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794759"/>
            <a:ext cx="2807208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500">
                <a:solidFill>
                  <a:srgbClr val="42A66B"/>
                </a:solidFill>
                <a:latin typeface="Aptos"/>
              </a:rPr>
              <a:t>MinIO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00">
                <a:solidFill>
                  <a:srgbClr val="5C6A7A"/>
                </a:solidFill>
                <a:latin typeface="Aptos"/>
              </a:defRPr>
            </a:pPr>
            <a:r>
              <a:t>S3-compatible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3703320"/>
            <a:ext cx="306324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24528" y="3703320"/>
            <a:ext cx="73152" cy="65836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3794759"/>
            <a:ext cx="2807208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500">
                <a:solidFill>
                  <a:srgbClr val="1F7A8C"/>
                </a:solidFill>
                <a:latin typeface="Aptos"/>
              </a:rPr>
              <a:t>Iceberg REST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00">
                <a:solidFill>
                  <a:srgbClr val="5C6A7A"/>
                </a:solidFill>
                <a:latin typeface="Aptos"/>
              </a:defRPr>
            </a:pPr>
            <a:r>
              <a:t>catalog 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90688" y="3703320"/>
            <a:ext cx="306324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90688" y="3703320"/>
            <a:ext cx="73152" cy="658368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3794759"/>
            <a:ext cx="2807208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500">
                <a:solidFill>
                  <a:srgbClr val="3674B5"/>
                </a:solidFill>
                <a:latin typeface="Aptos"/>
              </a:rPr>
              <a:t>Spark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00">
                <a:solidFill>
                  <a:srgbClr val="5C6A7A"/>
                </a:solidFill>
                <a:latin typeface="Aptos"/>
              </a:defRPr>
            </a:pPr>
            <a:r>
              <a:t>ingestion and transforms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572000"/>
            <a:ext cx="306324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572000"/>
            <a:ext cx="73152" cy="658368"/>
          </a:xfrm>
          <a:prstGeom prst="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663440"/>
            <a:ext cx="2807208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500">
                <a:solidFill>
                  <a:srgbClr val="6B5CA5"/>
                </a:solidFill>
                <a:latin typeface="Aptos"/>
              </a:rPr>
              <a:t>Trino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00">
                <a:solidFill>
                  <a:srgbClr val="5C6A7A"/>
                </a:solidFill>
                <a:latin typeface="Aptos"/>
              </a:defRPr>
            </a:pPr>
            <a:r>
              <a:t>interactive 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4572000"/>
            <a:ext cx="306324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4572000"/>
            <a:ext cx="73152" cy="658368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4663440"/>
            <a:ext cx="2807208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500">
                <a:solidFill>
                  <a:srgbClr val="E85D75"/>
                </a:solidFill>
                <a:latin typeface="Aptos"/>
              </a:rPr>
              <a:t>Airflow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00">
                <a:solidFill>
                  <a:srgbClr val="5C6A7A"/>
                </a:solidFill>
                <a:latin typeface="Aptos"/>
              </a:defRPr>
            </a:pPr>
            <a:r>
              <a:t>orchestration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4572000"/>
            <a:ext cx="306324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90688" y="4572000"/>
            <a:ext cx="73152" cy="658368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4663440"/>
            <a:ext cx="2807208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500">
                <a:solidFill>
                  <a:srgbClr val="F2B705"/>
                </a:solidFill>
                <a:latin typeface="Aptos"/>
              </a:rPr>
              <a:t>Superset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00">
                <a:solidFill>
                  <a:srgbClr val="5C6A7A"/>
                </a:solidFill>
                <a:latin typeface="Aptos"/>
              </a:defRPr>
            </a:pPr>
            <a:r>
              <a:t>BI dashboards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016752"/>
            <a:ext cx="47548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A4AEB9"/>
                </a:solidFill>
                <a:latin typeface="Aptos"/>
              </a:rPr>
              <a:t>Created for team knowledge sharing | May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Platform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051560"/>
            <a:ext cx="38404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700" b="1">
                <a:solidFill>
                  <a:srgbClr val="1F7A8C"/>
                </a:solidFill>
                <a:latin typeface="Aptos"/>
              </a:rPr>
              <a:t>What this project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508760"/>
            <a:ext cx="5212080" cy="21031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420">
                <a:solidFill>
                  <a:srgbClr val="17324D"/>
                </a:solidFill>
                <a:latin typeface="Aptos"/>
              </a:defRPr>
            </a:pPr>
            <a:r>
              <a:t>Docker Compose based local reference architecture for an Apache Iceberg data platform.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420">
                <a:solidFill>
                  <a:srgbClr val="17324D"/>
                </a:solidFill>
                <a:latin typeface="Aptos"/>
              </a:defRPr>
            </a:pPr>
            <a:r>
              <a:t>Uses Iceberg as the single source of truth for tables, metadata, and analytical access patterns.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420">
                <a:solidFill>
                  <a:srgbClr val="17324D"/>
                </a:solidFill>
                <a:latin typeface="Aptos"/>
              </a:defRPr>
            </a:pPr>
            <a:r>
              <a:t>Lets the team validate ingestion, transformation, validation, orchestration, SQL access, and BI locally first.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420">
                <a:solidFill>
                  <a:srgbClr val="17324D"/>
                </a:solidFill>
                <a:latin typeface="Aptos"/>
              </a:defRPr>
            </a:pPr>
            <a:r>
              <a:t>Keeps component boundaries similar to a future Kubernetes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38404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700" b="1">
                <a:solidFill>
                  <a:srgbClr val="E85D75"/>
                </a:solidFill>
                <a:latin typeface="Aptos"/>
              </a:rPr>
              <a:t>What it is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029200" cy="1737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420">
                <a:solidFill>
                  <a:srgbClr val="17324D"/>
                </a:solidFill>
                <a:latin typeface="Aptos"/>
              </a:defRPr>
            </a:pPr>
            <a:r>
              <a:t>Not production hardened as-is.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420">
                <a:solidFill>
                  <a:srgbClr val="17324D"/>
                </a:solidFill>
                <a:latin typeface="Aptos"/>
              </a:defRPr>
            </a:pPr>
            <a:r>
              <a:t>Not a replacement for cloud object storage, managed secrets, identity, monitoring, or autoscaling.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420">
                <a:solidFill>
                  <a:srgbClr val="17324D"/>
                </a:solidFill>
                <a:latin typeface="Aptos"/>
              </a:defRPr>
            </a:pPr>
            <a:r>
              <a:t>Not a monolithic tool; each service has a clear responsibility.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617720"/>
            <a:ext cx="10881360" cy="868680"/>
          </a:xfrm>
          <a:prstGeom prst="rect">
            <a:avLst/>
          </a:prstGeom>
          <a:solidFill>
            <a:srgbClr val="F0F7F8"/>
          </a:solidFill>
          <a:ln w="11430">
            <a:solidFill>
              <a:srgbClr val="CF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617720"/>
            <a:ext cx="73152" cy="8686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709159"/>
            <a:ext cx="10625328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500">
                <a:solidFill>
                  <a:srgbClr val="1F7A8C"/>
                </a:solidFill>
                <a:latin typeface="Aptos"/>
              </a:rPr>
              <a:t>Mental model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400">
                <a:solidFill>
                  <a:srgbClr val="5C6A7A"/>
                </a:solidFill>
                <a:latin typeface="Aptos"/>
              </a:defRPr>
            </a:pPr>
            <a:r>
              <a:t>Source files land in MinIO, Spark publishes Iceberg tables, Trino reads the same tables, Airflow schedules the jobs, and Superset consumes Trino for dashboards.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Tech Stack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87552"/>
          <a:ext cx="11201400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6537960"/>
              </a:tblGrid>
              <a:tr h="510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Layer</a:t>
                      </a:r>
                    </a:p>
                  </a:txBody>
                  <a:tcPr marL="54864" marR="54864" marT="36576" marB="36576"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Technology / Version</a:t>
                      </a:r>
                    </a:p>
                  </a:txBody>
                  <a:tcPr marL="54864" marR="54864" marT="36576" marB="36576"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in this project</a:t>
                      </a:r>
                    </a:p>
                  </a:txBody>
                  <a:tcPr marL="54864" marR="54864" marT="36576" marB="36576">
                    <a:solidFill>
                      <a:srgbClr val="1F7A8C"/>
                    </a:solidFill>
                  </a:tcPr>
                </a:tc>
              </a:tr>
              <a:tr h="510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Deployment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Docker Compose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Runs the full local platform and shared bridge network.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10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Object storage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MinIO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S3-compatible landing and warehouse buckets.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510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Table format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Apache Iceberg v2 tables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ACID table layout, snapshots, partitions, schema evolution.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10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Catalog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tabulario/iceberg-rest:0.10.0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REST catalog boundary shared by Spark and Trino.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510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Processing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PySpark 3.5.1 on Python 3.11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Batch ingestion, transforms, validation jobs.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10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Query engine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Trino 480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Interactive SQL over Iceberg tables.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510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Orchestration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Airflow 2.9.3, LocalExecutor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Manual DAGs for local raw-to-silver and raw-to-gold flows.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10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BI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Apache Superset 4.0.2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Dashboards and datasets through the Trino driver.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51023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Metadata DB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PostgreSQL 15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Airflow and Superset application metadata.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Component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24128"/>
            <a:ext cx="11292840" cy="5074920"/>
          </a:xfrm>
          <a:prstGeom prst="rect">
            <a:avLst/>
          </a:prstGeom>
          <a:solidFill>
            <a:srgbClr val="FAFCFD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365760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50" b="1">
                <a:solidFill>
                  <a:srgbClr val="5C6A7A"/>
                </a:solidFill>
                <a:latin typeface="Aptos"/>
              </a:rPr>
              <a:t>Docker Compose local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770632"/>
            <a:ext cx="1481328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770632"/>
            <a:ext cx="73152" cy="621792"/>
          </a:xfrm>
          <a:prstGeom prst="rect">
            <a:avLst/>
          </a:prstGeom>
          <a:solidFill>
            <a:srgbClr val="5C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862072"/>
            <a:ext cx="1225296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30">
                <a:solidFill>
                  <a:srgbClr val="5C6A7A"/>
                </a:solidFill>
                <a:latin typeface="Aptos"/>
              </a:rPr>
              <a:t>Source files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0">
                <a:solidFill>
                  <a:srgbClr val="5C6A7A"/>
                </a:solidFill>
                <a:latin typeface="Aptos"/>
              </a:defRPr>
            </a:pPr>
            <a:r>
              <a:t>CSV / Excel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8608" y="2523744"/>
            <a:ext cx="1627632" cy="107899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78608" y="2523744"/>
            <a:ext cx="73152" cy="1078992"/>
          </a:xfrm>
          <a:prstGeom prst="rect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06624" y="2615184"/>
            <a:ext cx="13716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30">
                <a:solidFill>
                  <a:srgbClr val="42A66B"/>
                </a:solidFill>
                <a:latin typeface="Aptos"/>
              </a:rPr>
              <a:t>MinIO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0">
                <a:solidFill>
                  <a:srgbClr val="5C6A7A"/>
                </a:solidFill>
                <a:latin typeface="Aptos"/>
              </a:defRPr>
            </a:pPr>
            <a:r>
              <a:t>landing + warehouse buckets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2633472"/>
            <a:ext cx="1536192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2633472"/>
            <a:ext cx="73152" cy="868680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3" y="2724912"/>
            <a:ext cx="128016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30">
                <a:solidFill>
                  <a:srgbClr val="3674B5"/>
                </a:solidFill>
                <a:latin typeface="Aptos"/>
              </a:rPr>
              <a:t>Spark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0">
                <a:solidFill>
                  <a:srgbClr val="5C6A7A"/>
                </a:solidFill>
                <a:latin typeface="Aptos"/>
              </a:defRPr>
            </a:pPr>
            <a:r>
              <a:t>ingestion + transforms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2633472"/>
            <a:ext cx="1609344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73952" y="2633472"/>
            <a:ext cx="73152" cy="8686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724912"/>
            <a:ext cx="1353312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30">
                <a:solidFill>
                  <a:srgbClr val="1F7A8C"/>
                </a:solidFill>
                <a:latin typeface="Aptos"/>
              </a:rPr>
              <a:t>Iceberg REST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0">
                <a:solidFill>
                  <a:srgbClr val="5C6A7A"/>
                </a:solidFill>
                <a:latin typeface="Aptos"/>
              </a:defRPr>
            </a:pPr>
            <a:r>
              <a:t>catalog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0768" y="2633472"/>
            <a:ext cx="1353312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30768" y="2633472"/>
            <a:ext cx="73152" cy="868680"/>
          </a:xfrm>
          <a:prstGeom prst="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8784" y="2724912"/>
            <a:ext cx="1097280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30">
                <a:solidFill>
                  <a:srgbClr val="6B5CA5"/>
                </a:solidFill>
                <a:latin typeface="Aptos"/>
              </a:rPr>
              <a:t>Trino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0">
                <a:solidFill>
                  <a:srgbClr val="5C6A7A"/>
                </a:solidFill>
                <a:latin typeface="Aptos"/>
              </a:defRPr>
            </a:pPr>
            <a:r>
              <a:t>SQL access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85832" y="2633472"/>
            <a:ext cx="1325880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85832" y="2633472"/>
            <a:ext cx="73152" cy="86868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13848" y="2724912"/>
            <a:ext cx="1069848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30">
                <a:solidFill>
                  <a:srgbClr val="F2B705"/>
                </a:solidFill>
                <a:latin typeface="Aptos"/>
              </a:rPr>
              <a:t>Superset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0">
                <a:solidFill>
                  <a:srgbClr val="5C6A7A"/>
                </a:solidFill>
                <a:latin typeface="Aptos"/>
              </a:defRPr>
            </a:pPr>
            <a:r>
              <a:t>BI dashboards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221992" y="2880360"/>
            <a:ext cx="256032" cy="256032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242816" y="2880360"/>
            <a:ext cx="256032" cy="256032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172200" y="2880360"/>
            <a:ext cx="256032" cy="256032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8138160" y="2880360"/>
            <a:ext cx="256032" cy="256032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9802368" y="2880360"/>
            <a:ext cx="256032" cy="256032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5968" y="1463040"/>
            <a:ext cx="1874519" cy="713232"/>
          </a:xfrm>
          <a:prstGeom prst="rect">
            <a:avLst/>
          </a:prstGeom>
          <a:solidFill>
            <a:srgbClr val="FFF4F6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1463040"/>
            <a:ext cx="73152" cy="713232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3983" y="1554480"/>
            <a:ext cx="1618487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80">
                <a:solidFill>
                  <a:srgbClr val="E85D75"/>
                </a:solidFill>
                <a:latin typeface="Aptos"/>
              </a:rPr>
              <a:t>Airflow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80">
                <a:solidFill>
                  <a:srgbClr val="5C6A7A"/>
                </a:solidFill>
                <a:latin typeface="Aptos"/>
              </a:defRPr>
            </a:pPr>
            <a:r>
              <a:t>DAG scheduler runs Spark jobs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5093208" y="2194560"/>
            <a:ext cx="301752" cy="310896"/>
          </a:xfrm>
          <a:prstGeom prst="downArrow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3720" y="4206240"/>
            <a:ext cx="1965960" cy="713232"/>
          </a:xfrm>
          <a:prstGeom prst="rect">
            <a:avLst/>
          </a:prstGeom>
          <a:solidFill>
            <a:srgbClr val="F5F8FC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03720" y="4206240"/>
            <a:ext cx="73152" cy="713232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1736" y="4297679"/>
            <a:ext cx="1709928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60">
                <a:solidFill>
                  <a:srgbClr val="3674B5"/>
                </a:solidFill>
                <a:latin typeface="Aptos"/>
              </a:rPr>
              <a:t>PostgreSQL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9">
                <a:solidFill>
                  <a:srgbClr val="5C6A7A"/>
                </a:solidFill>
                <a:latin typeface="Aptos"/>
              </a:defRPr>
            </a:pPr>
            <a:r>
              <a:t>Airflow + Superset metadata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78608" y="4160520"/>
            <a:ext cx="2788920" cy="749808"/>
          </a:xfrm>
          <a:prstGeom prst="rect">
            <a:avLst/>
          </a:prstGeom>
          <a:solidFill>
            <a:srgbClr val="F2FAF5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78608" y="4160520"/>
            <a:ext cx="73152" cy="749808"/>
          </a:xfrm>
          <a:prstGeom prst="rect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06624" y="4251959"/>
            <a:ext cx="2532887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20">
                <a:solidFill>
                  <a:srgbClr val="42A66B"/>
                </a:solidFill>
                <a:latin typeface="Aptos"/>
              </a:rPr>
              <a:t>Warehouse data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80">
                <a:solidFill>
                  <a:srgbClr val="5C6A7A"/>
                </a:solidFill>
                <a:latin typeface="Aptos"/>
              </a:defRPr>
            </a:pPr>
            <a:r>
              <a:t>Iceberg metadata files + Parquet data in s3://warehouse/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413248"/>
            <a:ext cx="10698480" cy="329184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60" b="0">
                <a:solidFill>
                  <a:srgbClr val="5C6A7A"/>
                </a:solidFill>
                <a:latin typeface="Aptos"/>
              </a:rPr>
              <a:t>Key contract: Spark and Trino both use the Iceberg REST catalog and the same MinIO warehouse, so writes and reads stay aligned.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Component Responsibilities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078992"/>
            <a:ext cx="5074920" cy="804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078992"/>
            <a:ext cx="73152" cy="804672"/>
          </a:xfrm>
          <a:prstGeom prst="rect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70432"/>
            <a:ext cx="4818888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20">
                <a:solidFill>
                  <a:srgbClr val="42A66B"/>
                </a:solidFill>
                <a:latin typeface="Aptos"/>
              </a:rPr>
              <a:t>MinIO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Stores landed source files and Iceberg warehouse files.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078992"/>
            <a:ext cx="5074920" cy="804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078992"/>
            <a:ext cx="73152" cy="80467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170432"/>
            <a:ext cx="4818888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20">
                <a:solidFill>
                  <a:srgbClr val="1F7A8C"/>
                </a:solidFill>
                <a:latin typeface="Aptos"/>
              </a:rPr>
              <a:t>Iceberg REST Catalog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Provides the shared catalog endpoint used by Spark and Trino.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212848"/>
            <a:ext cx="5074920" cy="804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2212848"/>
            <a:ext cx="73152" cy="804672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304288"/>
            <a:ext cx="4818888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20">
                <a:solidFill>
                  <a:srgbClr val="3674B5"/>
                </a:solidFill>
                <a:latin typeface="Aptos"/>
              </a:rPr>
              <a:t>Spark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Runs ingestion, transformation, and validation jobs from jobs/.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2212848"/>
            <a:ext cx="5074920" cy="804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2212848"/>
            <a:ext cx="73152" cy="804672"/>
          </a:xfrm>
          <a:prstGeom prst="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304288"/>
            <a:ext cx="4818888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20">
                <a:solidFill>
                  <a:srgbClr val="6B5CA5"/>
                </a:solidFill>
                <a:latin typeface="Aptos"/>
              </a:rPr>
              <a:t>Trino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Serves interactive SQL against Iceberg namespaces and tables.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3346704"/>
            <a:ext cx="5074920" cy="804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3346704"/>
            <a:ext cx="73152" cy="804672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438144"/>
            <a:ext cx="4818888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20">
                <a:solidFill>
                  <a:srgbClr val="E85D75"/>
                </a:solidFill>
                <a:latin typeface="Aptos"/>
              </a:rPr>
              <a:t>Airflow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Orchestrates DAGs that call the common Spark submit wrapper.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3346704"/>
            <a:ext cx="5074920" cy="804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3346704"/>
            <a:ext cx="73152" cy="804672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438144"/>
            <a:ext cx="4818888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20">
                <a:solidFill>
                  <a:srgbClr val="F2B705"/>
                </a:solidFill>
                <a:latin typeface="Aptos"/>
              </a:rPr>
              <a:t>Superset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Connects to Trino and exposes datasets, charts, and dashboards.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4480559"/>
            <a:ext cx="5074920" cy="804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" y="4480559"/>
            <a:ext cx="73152" cy="804672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571999"/>
            <a:ext cx="4818888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20">
                <a:solidFill>
                  <a:srgbClr val="3674B5"/>
                </a:solidFill>
                <a:latin typeface="Aptos"/>
              </a:rPr>
              <a:t>PostgreSQL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Persists Airflow and Superset application metadata.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4480559"/>
            <a:ext cx="5074920" cy="804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45352" y="4480559"/>
            <a:ext cx="73152" cy="804672"/>
          </a:xfrm>
          <a:prstGeom prst="rect">
            <a:avLst/>
          </a:prstGeom>
          <a:solidFill>
            <a:srgbClr val="5C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571999"/>
            <a:ext cx="4818888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20">
                <a:solidFill>
                  <a:srgbClr val="5C6A7A"/>
                </a:solidFill>
                <a:latin typeface="Aptos"/>
              </a:rPr>
              <a:t>Helper script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scripts/platform.sh wraps common startup, load, validate, and query commands.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Data Zones And Table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34440"/>
            <a:ext cx="2331720" cy="1207008"/>
          </a:xfrm>
          <a:prstGeom prst="rect">
            <a:avLst/>
          </a:prstGeom>
          <a:solidFill>
            <a:srgbClr val="EAF3FF"/>
          </a:solidFill>
          <a:ln w="1143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234440"/>
            <a:ext cx="73152" cy="1207008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325880"/>
            <a:ext cx="2075687" cy="10424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700">
                <a:solidFill>
                  <a:srgbClr val="3674B5"/>
                </a:solidFill>
                <a:latin typeface="Aptos"/>
              </a:rPr>
              <a:t>raw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980">
                <a:solidFill>
                  <a:srgbClr val="5C6A7A"/>
                </a:solidFill>
                <a:latin typeface="Aptos"/>
              </a:defRPr>
            </a:pPr>
            <a:r>
              <a:t>Immutable source-shaped records with audit metadata and quarantine support.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18104" y="1691640"/>
            <a:ext cx="256032" cy="256032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1234440"/>
            <a:ext cx="2331720" cy="1207008"/>
          </a:xfrm>
          <a:prstGeom prst="rect">
            <a:avLst/>
          </a:prstGeom>
          <a:solidFill>
            <a:srgbClr val="FFF8E6"/>
          </a:solidFill>
          <a:ln w="1143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1234440"/>
            <a:ext cx="73152" cy="1207008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325880"/>
            <a:ext cx="2075687" cy="10424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700">
                <a:solidFill>
                  <a:srgbClr val="F2B705"/>
                </a:solidFill>
                <a:latin typeface="Aptos"/>
              </a:rPr>
              <a:t>bronze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980">
                <a:solidFill>
                  <a:srgbClr val="5C6A7A"/>
                </a:solidFill>
                <a:latin typeface="Aptos"/>
              </a:defRPr>
            </a:pPr>
            <a:r>
              <a:t>Type-normalized, standardized records; currently used by the FCH pipeline.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07024" y="1691640"/>
            <a:ext cx="256032" cy="256032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234440"/>
            <a:ext cx="2331720" cy="1207008"/>
          </a:xfrm>
          <a:prstGeom prst="rect">
            <a:avLst/>
          </a:prstGeom>
          <a:solidFill>
            <a:srgbClr val="EFFAF3"/>
          </a:solidFill>
          <a:ln w="1143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234440"/>
            <a:ext cx="73152" cy="1207008"/>
          </a:xfrm>
          <a:prstGeom prst="rect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325880"/>
            <a:ext cx="2075687" cy="10424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700">
                <a:solidFill>
                  <a:srgbClr val="42A66B"/>
                </a:solidFill>
                <a:latin typeface="Aptos"/>
              </a:rPr>
              <a:t>silver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980">
                <a:solidFill>
                  <a:srgbClr val="5C6A7A"/>
                </a:solidFill>
                <a:latin typeface="Aptos"/>
              </a:defRPr>
            </a:pPr>
            <a:r>
              <a:t>Cleaned, conformed, analytics-friendly tables with business rules applied.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95944" y="1691640"/>
            <a:ext cx="256032" cy="256032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79991" y="1234440"/>
            <a:ext cx="2331720" cy="1207008"/>
          </a:xfrm>
          <a:prstGeom prst="rect">
            <a:avLst/>
          </a:prstGeom>
          <a:solidFill>
            <a:srgbClr val="F5F1FF"/>
          </a:solidFill>
          <a:ln w="1143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79991" y="1234440"/>
            <a:ext cx="73152" cy="1207008"/>
          </a:xfrm>
          <a:prstGeom prst="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7" y="1325880"/>
            <a:ext cx="2075687" cy="10424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700">
                <a:solidFill>
                  <a:srgbClr val="6B5CA5"/>
                </a:solidFill>
                <a:latin typeface="Aptos"/>
              </a:rPr>
              <a:t>gold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980">
                <a:solidFill>
                  <a:srgbClr val="5C6A7A"/>
                </a:solidFill>
                <a:latin typeface="Aptos"/>
              </a:defRPr>
            </a:pPr>
            <a:r>
              <a:t>Business-ready marts and KPI summaries for reporting and dashboards.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2953512"/>
            <a:ext cx="384048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600" b="1">
                <a:solidFill>
                  <a:srgbClr val="1F7A8C"/>
                </a:solidFill>
                <a:latin typeface="Aptos"/>
              </a:rPr>
              <a:t>Current table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401568"/>
            <a:ext cx="5440680" cy="148132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17324D"/>
                </a:solidFill>
                <a:latin typeface="Aptos"/>
              </a:defRPr>
            </a:pPr>
            <a:r>
              <a:t>Sales: iceberg.raw.sales_orders -&gt; iceberg.silver.sales_orders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17324D"/>
                </a:solidFill>
                <a:latin typeface="Aptos"/>
              </a:defRPr>
            </a:pPr>
            <a:r>
              <a:t>DCH: iceberg.raw.dch_data -&gt; iceberg.silver.dch_data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17324D"/>
                </a:solidFill>
                <a:latin typeface="Aptos"/>
              </a:defRPr>
            </a:pPr>
            <a:r>
              <a:t>FCH: iceberg.raw.fch_data -&gt; bronze.fch_data -&gt; silver.fch_data -&gt; gold.fch_settlement_summary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53512"/>
            <a:ext cx="384048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600" b="1">
                <a:solidFill>
                  <a:srgbClr val="6B5CA5"/>
                </a:solidFill>
                <a:latin typeface="Aptos"/>
              </a:rPr>
              <a:t>Iceberg capabilities being exercised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3401568"/>
            <a:ext cx="5074920" cy="1645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17324D"/>
                </a:solidFill>
                <a:latin typeface="Aptos"/>
              </a:defRPr>
            </a:pPr>
            <a:r>
              <a:t>Format-version 2 tables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17324D"/>
                </a:solidFill>
                <a:latin typeface="Aptos"/>
              </a:defRPr>
            </a:pPr>
            <a:r>
              <a:t>Partition transforms such as days(), months()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17324D"/>
                </a:solidFill>
                <a:latin typeface="Aptos"/>
              </a:defRPr>
            </a:pPr>
            <a:r>
              <a:t>Snapshot-oriented table history and time travel demos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17324D"/>
                </a:solidFill>
                <a:latin typeface="Aptos"/>
              </a:defRPr>
            </a:pPr>
            <a:r>
              <a:t>Schema evolution demos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40">
                <a:solidFill>
                  <a:srgbClr val="17324D"/>
                </a:solidFill>
                <a:latin typeface="Aptos"/>
              </a:defRPr>
            </a:pPr>
            <a:r>
              <a:t>Shared read/write access through one catalog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sp>
        <p:nvSpPr>
          <p:cNvPr id="7" name="Oval 6"/>
          <p:cNvSpPr/>
          <p:nvPr/>
        </p:nvSpPr>
        <p:spPr>
          <a:xfrm>
            <a:off x="1271016" y="1234440"/>
            <a:ext cx="475488" cy="475488"/>
          </a:xfrm>
          <a:prstGeom prst="ellipse">
            <a:avLst/>
          </a:prstGeom>
          <a:solidFill>
            <a:srgbClr val="5C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1335024"/>
            <a:ext cx="402336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1828800" cy="1426464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73152" cy="1426464"/>
          </a:xfrm>
          <a:prstGeom prst="rect">
            <a:avLst/>
          </a:prstGeom>
          <a:solidFill>
            <a:srgbClr val="5C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965960"/>
            <a:ext cx="1572768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20">
                <a:solidFill>
                  <a:srgbClr val="5C6A7A"/>
                </a:solidFill>
                <a:latin typeface="Aptos"/>
              </a:rPr>
              <a:t>Land source files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940">
                <a:solidFill>
                  <a:srgbClr val="5C6A7A"/>
                </a:solidFill>
                <a:latin typeface="Aptos"/>
              </a:defRPr>
            </a:pPr>
            <a:r>
              <a:t>data/sample/* -&gt; MinIO landing bucket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96312" y="2450592"/>
            <a:ext cx="237744" cy="237744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38728" y="1234440"/>
            <a:ext cx="475488" cy="475488"/>
          </a:xfrm>
          <a:prstGeom prst="ellipse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1335024"/>
            <a:ext cx="402336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62072" y="1874519"/>
            <a:ext cx="1828800" cy="1426464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62072" y="1874519"/>
            <a:ext cx="73152" cy="1426464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1965960"/>
            <a:ext cx="1572768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20">
                <a:solidFill>
                  <a:srgbClr val="3674B5"/>
                </a:solidFill>
                <a:latin typeface="Aptos"/>
              </a:rPr>
              <a:t>Ingest raw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940">
                <a:solidFill>
                  <a:srgbClr val="5C6A7A"/>
                </a:solidFill>
                <a:latin typeface="Aptos"/>
              </a:defRPr>
            </a:pPr>
            <a:r>
              <a:t>Spark reads landing and writes Iceberg raw tables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64024" y="2450592"/>
            <a:ext cx="237744" cy="237744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06440" y="1234440"/>
            <a:ext cx="475488" cy="475488"/>
          </a:xfrm>
          <a:prstGeom prst="ellipse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3016" y="1335024"/>
            <a:ext cx="402336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9784" y="1874519"/>
            <a:ext cx="1828800" cy="1426464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9784" y="1874519"/>
            <a:ext cx="73152" cy="1426464"/>
          </a:xfrm>
          <a:prstGeom prst="rect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1965960"/>
            <a:ext cx="1572768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20">
                <a:solidFill>
                  <a:srgbClr val="42A66B"/>
                </a:solidFill>
                <a:latin typeface="Aptos"/>
              </a:rPr>
              <a:t>Transform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940">
                <a:solidFill>
                  <a:srgbClr val="5C6A7A"/>
                </a:solidFill>
                <a:latin typeface="Aptos"/>
              </a:defRPr>
            </a:pPr>
            <a:r>
              <a:t>Spark builds bronze, silver, and gold layers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31736" y="2450592"/>
            <a:ext cx="237744" cy="237744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74152" y="1234440"/>
            <a:ext cx="475488" cy="475488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7" y="1335024"/>
            <a:ext cx="402336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97496" y="1874519"/>
            <a:ext cx="1828800" cy="1426464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97496" y="1874519"/>
            <a:ext cx="73152" cy="1426464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25512" y="1965960"/>
            <a:ext cx="1572768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20">
                <a:solidFill>
                  <a:srgbClr val="E85D75"/>
                </a:solidFill>
                <a:latin typeface="Aptos"/>
              </a:rPr>
              <a:t>Validate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940">
                <a:solidFill>
                  <a:srgbClr val="5C6A7A"/>
                </a:solidFill>
                <a:latin typeface="Aptos"/>
              </a:defRPr>
            </a:pPr>
            <a:r>
              <a:t>Spark validation jobs check counts, required columns, and metrics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99448" y="2450592"/>
            <a:ext cx="237744" cy="237744"/>
          </a:xfrm>
          <a:prstGeom prst="rightArrow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41864" y="1234440"/>
            <a:ext cx="475488" cy="475488"/>
          </a:xfrm>
          <a:prstGeom prst="ellipse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1335024"/>
            <a:ext cx="402336" cy="1828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65208" y="1874519"/>
            <a:ext cx="1828800" cy="1426464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65208" y="1874519"/>
            <a:ext cx="73152" cy="1426464"/>
          </a:xfrm>
          <a:prstGeom prst="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93224" y="1965960"/>
            <a:ext cx="1572768" cy="1261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20">
                <a:solidFill>
                  <a:srgbClr val="6B5CA5"/>
                </a:solidFill>
                <a:latin typeface="Aptos"/>
              </a:rPr>
              <a:t>Serve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940">
                <a:solidFill>
                  <a:srgbClr val="5C6A7A"/>
                </a:solidFill>
                <a:latin typeface="Aptos"/>
              </a:defRPr>
            </a:pPr>
            <a:r>
              <a:t>Trino queries Iceberg; Superset builds BI views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096512"/>
            <a:ext cx="3246120" cy="768096"/>
          </a:xfrm>
          <a:prstGeom prst="rect">
            <a:avLst/>
          </a:prstGeom>
          <a:solidFill>
            <a:srgbClr val="FFF4F6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096512"/>
            <a:ext cx="73152" cy="768096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4187952"/>
            <a:ext cx="2990087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60">
                <a:solidFill>
                  <a:srgbClr val="E85D75"/>
                </a:solidFill>
                <a:latin typeface="Aptos"/>
              </a:rPr>
              <a:t>Orchestration path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10">
                <a:solidFill>
                  <a:srgbClr val="5C6A7A"/>
                </a:solidFill>
                <a:latin typeface="Aptos"/>
              </a:defRPr>
            </a:pPr>
            <a:r>
              <a:t>Airflow DAGs run the same Spark jobs through jobs/common/run_spark_submit.sh.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98848" y="4096512"/>
            <a:ext cx="3246120" cy="768096"/>
          </a:xfrm>
          <a:prstGeom prst="rect">
            <a:avLst/>
          </a:prstGeom>
          <a:solidFill>
            <a:srgbClr val="F0F7F8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98848" y="4096512"/>
            <a:ext cx="73152" cy="768096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26864" y="4187952"/>
            <a:ext cx="2990087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60">
                <a:solidFill>
                  <a:srgbClr val="1F7A8C"/>
                </a:solidFill>
                <a:latin typeface="Aptos"/>
              </a:rPr>
              <a:t>Catalog path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10">
                <a:solidFill>
                  <a:srgbClr val="5C6A7A"/>
                </a:solidFill>
                <a:latin typeface="Aptos"/>
              </a:defRPr>
            </a:pPr>
            <a:r>
              <a:t>Spark and Trino use http://iceberg-rest:8181 for table metadata.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66175" y="4096512"/>
            <a:ext cx="3246120" cy="768096"/>
          </a:xfrm>
          <a:prstGeom prst="rect">
            <a:avLst/>
          </a:prstGeom>
          <a:solidFill>
            <a:srgbClr val="EFFAF3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66175" y="4096512"/>
            <a:ext cx="73152" cy="768096"/>
          </a:xfrm>
          <a:prstGeom prst="rect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4187952"/>
            <a:ext cx="2990087" cy="6035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60">
                <a:solidFill>
                  <a:srgbClr val="42A66B"/>
                </a:solidFill>
                <a:latin typeface="Aptos"/>
              </a:rPr>
              <a:t>Storage path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10">
                <a:solidFill>
                  <a:srgbClr val="5C6A7A"/>
                </a:solidFill>
                <a:latin typeface="Aptos"/>
              </a:defRPr>
            </a:pPr>
            <a:r>
              <a:t>Iceberg metadata and Parquet files live in the MinIO warehouse bucket.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Demo Pipelines Included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4300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331720"/>
                <a:gridCol w="3154680"/>
                <a:gridCol w="3840480"/>
              </a:tblGrid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Pipeline</a:t>
                      </a:r>
                    </a:p>
                  </a:txBody>
                  <a:tcPr marL="54864" marR="54864" marT="36576" marB="36576"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36576" marB="36576"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Flow</a:t>
                      </a:r>
                    </a:p>
                  </a:txBody>
                  <a:tcPr marL="54864" marR="54864" marT="36576" marB="36576"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Airflow DAG / validation</a:t>
                      </a:r>
                    </a:p>
                  </a:txBody>
                  <a:tcPr marL="54864" marR="54864" marT="36576" marB="36576">
                    <a:solidFill>
                      <a:srgbClr val="1F7A8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Sales orders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data/sample/sales_orders.csv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raw.sales_orders -&gt; silver.sales_orders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demo_raw_to_silver + validate_silver_sales_orders.py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DCH roaming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data/sample/dch_data.xlsx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raw.dch_data -&gt; silver.dch_data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dch_raw_to_silver + validate_silver_dch_data.py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FCH settlement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data/sample/fch_data.csv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raw -&gt; bronze -&gt; silver -&gt; gold.fch_settlement_summary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fch_raw_to_gold + validate_fch_pipeline.py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6656" y="3630168"/>
            <a:ext cx="41148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600" b="1">
                <a:solidFill>
                  <a:srgbClr val="1F7A8C"/>
                </a:solidFill>
                <a:latin typeface="Aptos"/>
              </a:rPr>
              <a:t>Why this matters for the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41648"/>
            <a:ext cx="5257800" cy="1508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20">
                <a:solidFill>
                  <a:srgbClr val="17324D"/>
                </a:solidFill>
                <a:latin typeface="Aptos"/>
              </a:defRPr>
            </a:pPr>
            <a:r>
              <a:t>Sales is the smallest path for proving raw-to-silver fundamentals.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20">
                <a:solidFill>
                  <a:srgbClr val="17324D"/>
                </a:solidFill>
                <a:latin typeface="Aptos"/>
              </a:defRPr>
            </a:pPr>
            <a:r>
              <a:t>DCH proves Excel ingestion with pandas and openpyxl before Spark writes Iceberg.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20">
                <a:solidFill>
                  <a:srgbClr val="17324D"/>
                </a:solidFill>
                <a:latin typeface="Aptos"/>
              </a:defRPr>
            </a:pPr>
            <a:r>
              <a:t>FCH proves a fuller layered pattern with gold metrics and BI-ready settlement summary.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630168"/>
            <a:ext cx="41148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600" b="1">
                <a:solidFill>
                  <a:srgbClr val="6B5CA5"/>
                </a:solidFill>
                <a:latin typeface="Aptos"/>
              </a:rPr>
              <a:t>Reusable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041648"/>
            <a:ext cx="512064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280">
                <a:solidFill>
                  <a:srgbClr val="17324D"/>
                </a:solidFill>
                <a:latin typeface="Aptos"/>
              </a:defRPr>
            </a:pPr>
            <a:r>
              <a:t>1. Land a file under landing/&lt;dataset&gt;/</a:t>
            </a:r>
          </a:p>
          <a:p>
            <a:pPr>
              <a:spcAft>
                <a:spcPts val="600"/>
              </a:spcAft>
              <a:defRPr sz="1280">
                <a:solidFill>
                  <a:srgbClr val="17324D"/>
                </a:solidFill>
                <a:latin typeface="Aptos"/>
              </a:defRPr>
            </a:pPr>
            <a:r>
              <a:t>2. Create or update an ingestion job under jobs/ingestion/</a:t>
            </a:r>
          </a:p>
          <a:p>
            <a:pPr>
              <a:spcAft>
                <a:spcPts val="600"/>
              </a:spcAft>
              <a:defRPr sz="1280">
                <a:solidFill>
                  <a:srgbClr val="17324D"/>
                </a:solidFill>
                <a:latin typeface="Aptos"/>
              </a:defRPr>
            </a:pPr>
            <a:r>
              <a:t>3. Add transforms under jobs/transforms/</a:t>
            </a:r>
          </a:p>
          <a:p>
            <a:pPr>
              <a:spcAft>
                <a:spcPts val="600"/>
              </a:spcAft>
              <a:defRPr sz="1280">
                <a:solidFill>
                  <a:srgbClr val="17324D"/>
                </a:solidFill>
                <a:latin typeface="Aptos"/>
              </a:defRPr>
            </a:pPr>
            <a:r>
              <a:t>4. Add validation under jobs/validation/</a:t>
            </a:r>
          </a:p>
          <a:p>
            <a:pPr>
              <a:spcAft>
                <a:spcPts val="600"/>
              </a:spcAft>
              <a:defRPr sz="1280">
                <a:solidFill>
                  <a:srgbClr val="17324D"/>
                </a:solidFill>
                <a:latin typeface="Aptos"/>
              </a:defRPr>
            </a:pPr>
            <a:r>
              <a:t>5. Expose via Trino and Superset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Repo Map And Entry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HOW TO NAVIGATE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987552"/>
          <a:ext cx="108356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8412480"/>
              </a:tblGrid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Path</a:t>
                      </a:r>
                    </a:p>
                  </a:txBody>
                  <a:tcPr marL="54864" marR="54864" marT="36576" marB="36576">
                    <a:solidFill>
                      <a:srgbClr val="6B5C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54864" marR="54864" marT="36576" marB="36576">
                    <a:solidFill>
                      <a:srgbClr val="6B5CA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docker-compose.yml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Local platform definition and service wiring.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docker/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Custom local images for Spark, Airflow, and Superset.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conf/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Spark defaults, Trino Iceberg catalog config, Superset config.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dags/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Airflow DAGs for sales, DCH, and FCH pipelines.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jobs/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PySpark ingestion, transformation, validation, and common submit wrapper.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data/sample/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Sample CSV and Excel source files.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sql/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Bootstrap and validation SQL.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scripts/platform.sh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Main helper for up, load, validate, query, logs, and DAG triggers.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demo/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9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Use-case walkthroughs for ingestion, BI, quality, schema evolution, and time travel.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Local Operations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RUNBOOK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60704"/>
            <a:ext cx="36576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600" b="1">
                <a:solidFill>
                  <a:srgbClr val="1F7A8C"/>
                </a:solidFill>
                <a:latin typeface="Aptos"/>
              </a:rPr>
              <a:t>Common 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5394960" cy="310896"/>
          </a:xfrm>
          <a:prstGeom prst="rect">
            <a:avLst/>
          </a:prstGeom>
          <a:solidFill>
            <a:srgbClr val="F4F7F9"/>
          </a:solidFill>
          <a:ln w="6350"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531620"/>
            <a:ext cx="5138928" cy="1554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80" b="0">
                <a:solidFill>
                  <a:srgbClr val="17324D"/>
                </a:solidFill>
                <a:latin typeface="Aptos"/>
              </a:rPr>
              <a:t>scripts/platform.sh 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920240"/>
            <a:ext cx="5394960" cy="310896"/>
          </a:xfrm>
          <a:prstGeom prst="rect">
            <a:avLst/>
          </a:prstGeom>
          <a:solidFill>
            <a:srgbClr val="F4F7F9"/>
          </a:solidFill>
          <a:ln w="6350"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970532"/>
            <a:ext cx="5138928" cy="1554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80" b="0">
                <a:solidFill>
                  <a:srgbClr val="17324D"/>
                </a:solidFill>
                <a:latin typeface="Aptos"/>
              </a:rPr>
              <a:t>scripts/platform.sh load 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359152"/>
            <a:ext cx="5394960" cy="310896"/>
          </a:xfrm>
          <a:prstGeom prst="rect">
            <a:avLst/>
          </a:prstGeom>
          <a:solidFill>
            <a:srgbClr val="F4F7F9"/>
          </a:solidFill>
          <a:ln w="6350"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9444"/>
            <a:ext cx="5138928" cy="1554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80" b="0">
                <a:solidFill>
                  <a:srgbClr val="17324D"/>
                </a:solidFill>
                <a:latin typeface="Aptos"/>
              </a:rPr>
              <a:t>scripts/platform.sh counts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798064"/>
            <a:ext cx="5394960" cy="310896"/>
          </a:xfrm>
          <a:prstGeom prst="rect">
            <a:avLst/>
          </a:prstGeom>
          <a:solidFill>
            <a:srgbClr val="F4F7F9"/>
          </a:solidFill>
          <a:ln w="6350"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848356"/>
            <a:ext cx="5138928" cy="1554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80" b="0">
                <a:solidFill>
                  <a:srgbClr val="17324D"/>
                </a:solidFill>
                <a:latin typeface="Aptos"/>
              </a:rPr>
              <a:t>scripts/platform.sh validate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236976"/>
            <a:ext cx="5394960" cy="310896"/>
          </a:xfrm>
          <a:prstGeom prst="rect">
            <a:avLst/>
          </a:prstGeom>
          <a:solidFill>
            <a:srgbClr val="F4F7F9"/>
          </a:solidFill>
          <a:ln w="6350"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287268"/>
            <a:ext cx="5138928" cy="1554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80" b="0">
                <a:solidFill>
                  <a:srgbClr val="17324D"/>
                </a:solidFill>
                <a:latin typeface="Aptos"/>
              </a:rPr>
              <a:t>scripts/platform.sh query "SELECT * FROM iceberg.silver.sales_orders LIMIT 10"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675887"/>
            <a:ext cx="5394960" cy="310896"/>
          </a:xfrm>
          <a:prstGeom prst="rect">
            <a:avLst/>
          </a:prstGeom>
          <a:solidFill>
            <a:srgbClr val="F4F7F9"/>
          </a:solidFill>
          <a:ln w="6350"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726179"/>
            <a:ext cx="5138928" cy="1554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80" b="0">
                <a:solidFill>
                  <a:srgbClr val="17324D"/>
                </a:solidFill>
                <a:latin typeface="Aptos"/>
              </a:rPr>
              <a:t>scripts/platform.sh trigger-dag fch_raw_to_gold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114800"/>
            <a:ext cx="5394960" cy="310896"/>
          </a:xfrm>
          <a:prstGeom prst="rect">
            <a:avLst/>
          </a:prstGeom>
          <a:solidFill>
            <a:srgbClr val="F4F7F9"/>
          </a:solidFill>
          <a:ln w="6350">
            <a:solidFill>
              <a:srgbClr val="E0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165091"/>
            <a:ext cx="5138928" cy="15544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880" b="0">
                <a:solidFill>
                  <a:srgbClr val="17324D"/>
                </a:solidFill>
                <a:latin typeface="Aptos"/>
              </a:rPr>
              <a:t>scripts/platform.sh logs trino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1060704"/>
            <a:ext cx="310896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600" b="1">
                <a:solidFill>
                  <a:srgbClr val="6B5CA5"/>
                </a:solidFill>
                <a:latin typeface="Aptos"/>
              </a:rPr>
              <a:t>Local service URLs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0256" y="1481328"/>
            <a:ext cx="21488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0256" y="1481328"/>
            <a:ext cx="73152" cy="713232"/>
          </a:xfrm>
          <a:prstGeom prst="rect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1572768"/>
            <a:ext cx="1892808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120">
                <a:solidFill>
                  <a:srgbClr val="42A66B"/>
                </a:solidFill>
                <a:latin typeface="Aptos"/>
              </a:rPr>
              <a:t>MinIO console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9">
                <a:solidFill>
                  <a:srgbClr val="5C6A7A"/>
                </a:solidFill>
                <a:latin typeface="Aptos"/>
              </a:defRPr>
            </a:pPr>
            <a:r>
              <a:t>http://localhost:9001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89136" y="1481328"/>
            <a:ext cx="21488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89136" y="1481328"/>
            <a:ext cx="73152" cy="713232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1572768"/>
            <a:ext cx="1892808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120">
                <a:solidFill>
                  <a:srgbClr val="E85D75"/>
                </a:solidFill>
                <a:latin typeface="Aptos"/>
              </a:rPr>
              <a:t>Airflow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9">
                <a:solidFill>
                  <a:srgbClr val="5C6A7A"/>
                </a:solidFill>
                <a:latin typeface="Aptos"/>
              </a:defRPr>
            </a:pPr>
            <a:r>
              <a:t>http://localhost:8080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0256" y="2487168"/>
            <a:ext cx="21488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0256" y="2487168"/>
            <a:ext cx="73152" cy="713232"/>
          </a:xfrm>
          <a:prstGeom prst="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2578608"/>
            <a:ext cx="1892808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120">
                <a:solidFill>
                  <a:srgbClr val="6B5CA5"/>
                </a:solidFill>
                <a:latin typeface="Aptos"/>
              </a:rPr>
              <a:t>Trino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9">
                <a:solidFill>
                  <a:srgbClr val="5C6A7A"/>
                </a:solidFill>
                <a:latin typeface="Aptos"/>
              </a:defRPr>
            </a:pPr>
            <a:r>
              <a:t>http://localhost:8081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89136" y="2487168"/>
            <a:ext cx="21488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89136" y="2487168"/>
            <a:ext cx="73152" cy="713232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7152" y="2578608"/>
            <a:ext cx="1892808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120">
                <a:solidFill>
                  <a:srgbClr val="F2B705"/>
                </a:solidFill>
                <a:latin typeface="Aptos"/>
              </a:rPr>
              <a:t>Superset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9">
                <a:solidFill>
                  <a:srgbClr val="5C6A7A"/>
                </a:solidFill>
                <a:latin typeface="Aptos"/>
              </a:defRPr>
            </a:pPr>
            <a:r>
              <a:t>http://localhost:8088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0256" y="3493008"/>
            <a:ext cx="21488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20256" y="3493008"/>
            <a:ext cx="73152" cy="71323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3584448"/>
            <a:ext cx="1892808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120">
                <a:solidFill>
                  <a:srgbClr val="1F7A8C"/>
                </a:solidFill>
                <a:latin typeface="Aptos"/>
              </a:rPr>
              <a:t>Iceberg REST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9">
                <a:solidFill>
                  <a:srgbClr val="5C6A7A"/>
                </a:solidFill>
                <a:latin typeface="Aptos"/>
              </a:defRPr>
            </a:pPr>
            <a:r>
              <a:t>http://localhost:8181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89136" y="3493008"/>
            <a:ext cx="2148840" cy="713232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89136" y="3493008"/>
            <a:ext cx="73152" cy="713232"/>
          </a:xfrm>
          <a:prstGeom prst="rect">
            <a:avLst/>
          </a:prstGeom>
          <a:solidFill>
            <a:srgbClr val="36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17152" y="3584448"/>
            <a:ext cx="1892808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120">
                <a:solidFill>
                  <a:srgbClr val="3674B5"/>
                </a:solidFill>
                <a:latin typeface="Aptos"/>
              </a:rPr>
              <a:t>Spark UI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869">
                <a:solidFill>
                  <a:srgbClr val="5C6A7A"/>
                </a:solidFill>
                <a:latin typeface="Aptos"/>
              </a:defRPr>
            </a:pPr>
            <a:r>
              <a:t>http://localhost:4040 when a job is active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0256" y="4709160"/>
            <a:ext cx="4617720" cy="713232"/>
          </a:xfrm>
          <a:prstGeom prst="rect">
            <a:avLst/>
          </a:prstGeom>
          <a:solidFill>
            <a:srgbClr val="F0F7F8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20256" y="4709160"/>
            <a:ext cx="73152" cy="71323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48272" y="4800600"/>
            <a:ext cx="4361688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60">
                <a:solidFill>
                  <a:srgbClr val="1F7A8C"/>
                </a:solidFill>
                <a:latin typeface="Aptos"/>
              </a:rPr>
              <a:t>Tip for demos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00">
                <a:solidFill>
                  <a:srgbClr val="5C6A7A"/>
                </a:solidFill>
                <a:latin typeface="Aptos"/>
              </a:defRPr>
            </a:pPr>
            <a:r>
              <a:t>Start with scripts/platform.sh load sales, then show Trino and Superset reading the same Iceberg table.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Important Configuration Contracts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143000"/>
            <a:ext cx="4983480" cy="1389888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143000"/>
            <a:ext cx="73152" cy="1389888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234440"/>
            <a:ext cx="4727448" cy="1225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80">
                <a:solidFill>
                  <a:srgbClr val="1F7A8C"/>
                </a:solidFill>
                <a:latin typeface="Aptos"/>
              </a:rPr>
              <a:t>Spark catalog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spark.sql.catalog.iceberg.type=rest</a:t>
            </a:r>
            <a:br/>
            <a:r>
              <a:t>spark.sql.catalog.iceberg.uri=http://iceberg-rest:8181</a:t>
            </a:r>
            <a:br/>
            <a:r>
              <a:t>spark.sql.catalog.iceberg.warehouse=s3://warehouse/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143000"/>
            <a:ext cx="4983480" cy="1389888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143000"/>
            <a:ext cx="73152" cy="1389888"/>
          </a:xfrm>
          <a:prstGeom prst="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234440"/>
            <a:ext cx="4727448" cy="1225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80">
                <a:solidFill>
                  <a:srgbClr val="6B5CA5"/>
                </a:solidFill>
                <a:latin typeface="Aptos"/>
              </a:rPr>
              <a:t>Trino catalog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connector.name=iceberg</a:t>
            </a:r>
            <a:br/>
            <a:r>
              <a:t>iceberg.catalog.type=rest</a:t>
            </a:r>
            <a:br/>
            <a:r>
              <a:t>iceberg.rest-catalog.uri=http://iceberg-rest:8181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108960"/>
            <a:ext cx="4983480" cy="1389888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3108960"/>
            <a:ext cx="73152" cy="1389888"/>
          </a:xfrm>
          <a:prstGeom prst="rect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00400"/>
            <a:ext cx="4727448" cy="1225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80">
                <a:solidFill>
                  <a:srgbClr val="42A66B"/>
                </a:solidFill>
                <a:latin typeface="Aptos"/>
              </a:rPr>
              <a:t>S3 access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MinIO endpoint: http://minio:9000</a:t>
            </a:r>
            <a:br/>
            <a:r>
              <a:t>Path-style access enabled</a:t>
            </a:r>
            <a:br/>
            <a:r>
              <a:t>AWS region: us-east-1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108960"/>
            <a:ext cx="4983480" cy="1389888"/>
          </a:xfrm>
          <a:prstGeom prst="rect">
            <a:avLst/>
          </a:prstGeom>
          <a:solidFill>
            <a:srgbClr val="FFFF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3108960"/>
            <a:ext cx="73152" cy="1389888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200400"/>
            <a:ext cx="4727448" cy="12252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80">
                <a:solidFill>
                  <a:srgbClr val="E85D75"/>
                </a:solidFill>
                <a:latin typeface="Aptos"/>
              </a:rPr>
              <a:t>Airflow execution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50">
                <a:solidFill>
                  <a:srgbClr val="5C6A7A"/>
                </a:solidFill>
                <a:latin typeface="Aptos"/>
              </a:defRPr>
            </a:pPr>
            <a:r>
              <a:t>LocalExecutor</a:t>
            </a:r>
            <a:br/>
            <a:r>
              <a:t>DAGs call BashOperator</a:t>
            </a:r>
            <a:br/>
            <a:r>
              <a:t>BashOperator calls run_spark_submit.sh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431536"/>
            <a:ext cx="105613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80" b="0">
                <a:solidFill>
                  <a:srgbClr val="5C6A7A"/>
                </a:solidFill>
                <a:latin typeface="Aptos"/>
              </a:rPr>
              <a:t>These contracts are the reason Spark writes, Trino reads, and Superset can query without knowing file paths.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Path From Local To Kubernetes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987552"/>
          <a:ext cx="64008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</a:tblGrid>
              <a:tr h="5812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Local component</a:t>
                      </a:r>
                    </a:p>
                  </a:txBody>
                  <a:tcPr marL="54864" marR="54864" marT="36576" marB="36576"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Future production equivalent</a:t>
                      </a:r>
                    </a:p>
                  </a:txBody>
                  <a:tcPr marL="54864" marR="54864" marT="36576" marB="36576">
                    <a:solidFill>
                      <a:srgbClr val="1F7A8C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MinIO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Cloud object storage or managed S3-compatible storage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Iceberg REST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Catalog service with production auth, HA, and monitoring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Spark utility container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Spark operator, scheduled jobs, or managed Spark runtime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Trino single container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Scalable Trino coordinator and workers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Airflow LocalExecutor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Airflow deployment with external metadata DB and workers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81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Superset local DB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 sz="1019" b="0">
                          <a:solidFill>
                            <a:srgbClr val="17324D"/>
                          </a:solidFill>
                          <a:latin typeface="Aptos"/>
                        </a:defRPr>
                      </a:pPr>
                      <a:r>
                        <a:t>Superset deployment with managed PostgreSQL metadata DB</a:t>
                      </a:r>
                    </a:p>
                  </a:txBody>
                  <a:tcPr marL="54864" marR="54864" marT="36576" marB="36576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60920" y="1078992"/>
            <a:ext cx="365760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600" b="1">
                <a:solidFill>
                  <a:srgbClr val="1F7A8C"/>
                </a:solidFill>
                <a:latin typeface="Aptos"/>
              </a:rPr>
              <a:t>Keep the boundaries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3488" y="1508760"/>
            <a:ext cx="4069080" cy="20574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20">
                <a:solidFill>
                  <a:srgbClr val="17324D"/>
                </a:solidFill>
                <a:latin typeface="Aptos"/>
              </a:defRPr>
            </a:pPr>
            <a:r>
              <a:t>Storage remains separate from compute.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20">
                <a:solidFill>
                  <a:srgbClr val="17324D"/>
                </a:solidFill>
                <a:latin typeface="Aptos"/>
              </a:defRPr>
            </a:pPr>
            <a:r>
              <a:t>Catalog remains a shared service boundary.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20">
                <a:solidFill>
                  <a:srgbClr val="17324D"/>
                </a:solidFill>
                <a:latin typeface="Aptos"/>
              </a:defRPr>
            </a:pPr>
            <a:r>
              <a:t>Spark owns writes and transformations.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20">
                <a:solidFill>
                  <a:srgbClr val="17324D"/>
                </a:solidFill>
                <a:latin typeface="Aptos"/>
              </a:defRPr>
            </a:pPr>
            <a:r>
              <a:t>Trino owns interactive reads.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20">
                <a:solidFill>
                  <a:srgbClr val="17324D"/>
                </a:solidFill>
                <a:latin typeface="Aptos"/>
              </a:defRPr>
            </a:pPr>
            <a:r>
              <a:t>Airflow owns scheduling and visibility.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20">
                <a:solidFill>
                  <a:srgbClr val="17324D"/>
                </a:solidFill>
                <a:latin typeface="Aptos"/>
              </a:defRPr>
            </a:pPr>
            <a:r>
              <a:t>Superset stays behind the SQL serving layer.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4343400"/>
            <a:ext cx="3886200" cy="841248"/>
          </a:xfrm>
          <a:prstGeom prst="rect">
            <a:avLst/>
          </a:prstGeom>
          <a:solidFill>
            <a:srgbClr val="EFFAF3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4343400"/>
            <a:ext cx="73152" cy="841248"/>
          </a:xfrm>
          <a:prstGeom prst="rect">
            <a:avLst/>
          </a:prstGeom>
          <a:solidFill>
            <a:srgbClr val="42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8936" y="4434840"/>
            <a:ext cx="3630168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350">
                <a:solidFill>
                  <a:srgbClr val="42A66B"/>
                </a:solidFill>
                <a:latin typeface="Aptos"/>
              </a:rPr>
              <a:t>Main idea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150">
                <a:solidFill>
                  <a:srgbClr val="5C6A7A"/>
                </a:solidFill>
                <a:latin typeface="Aptos"/>
              </a:defRPr>
            </a:pPr>
            <a:r>
              <a:t>The deployment model changes later; the platform responsibilities should stay recognizable.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56032"/>
            <a:ext cx="896112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Aptos"/>
              </a:rPr>
              <a:t>Suggested Team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9464040" y="283464"/>
            <a:ext cx="2240280" cy="310896"/>
          </a:xfrm>
          <a:prstGeom prst="rect">
            <a:avLst/>
          </a:prstGeom>
          <a:solidFill>
            <a:srgbClr val="EFF5F8"/>
          </a:solidFill>
          <a:ln w="10160">
            <a:solidFill>
              <a:srgbClr val="D7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8048" y="329184"/>
            <a:ext cx="2112264" cy="201168"/>
          </a:xfrm>
          <a:prstGeom prst="rect">
            <a:avLst/>
          </a:prstGeom>
          <a:noFill/>
        </p:spPr>
        <p:txBody>
          <a:bodyPr wrap="square" anchor="ctr" lIns="0" rIns="0">
            <a:normAutofit/>
          </a:bodyPr>
          <a:lstStyle/>
          <a:p>
            <a:pPr algn="ctr"/>
            <a:r>
              <a:rPr sz="850" b="1">
                <a:solidFill>
                  <a:srgbClr val="1F7A8C"/>
                </a:solidFill>
                <a:latin typeface="Aptos"/>
              </a:rPr>
              <a:t>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694944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750" b="0">
                <a:solidFill>
                  <a:srgbClr val="A4AEB9"/>
                </a:solidFill>
                <a:latin typeface="Aptos"/>
              </a:rPr>
              <a:t>Apache Iceberg Local Platform | Tech Stack and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516636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440">
                <a:solidFill>
                  <a:srgbClr val="17324D"/>
                </a:solidFill>
                <a:latin typeface="Aptos"/>
              </a:defRPr>
            </a:pPr>
            <a:r>
              <a:t>1. Open the architecture slide and explain each service in one sentence.</a:t>
            </a:r>
          </a:p>
          <a:p>
            <a:pPr>
              <a:spcAft>
                <a:spcPts val="600"/>
              </a:spcAft>
              <a:defRPr sz="1440">
                <a:solidFill>
                  <a:srgbClr val="17324D"/>
                </a:solidFill>
                <a:latin typeface="Aptos"/>
              </a:defRPr>
            </a:pPr>
            <a:r>
              <a:t>2. Run scripts/platform.sh status to show the local platform footprint.</a:t>
            </a:r>
          </a:p>
          <a:p>
            <a:pPr>
              <a:spcAft>
                <a:spcPts val="600"/>
              </a:spcAft>
              <a:defRPr sz="1440">
                <a:solidFill>
                  <a:srgbClr val="17324D"/>
                </a:solidFill>
                <a:latin typeface="Aptos"/>
              </a:defRPr>
            </a:pPr>
            <a:r>
              <a:t>3. Run scripts/platform.sh load sales or load fch depending on audience depth.</a:t>
            </a:r>
          </a:p>
          <a:p>
            <a:pPr>
              <a:spcAft>
                <a:spcPts val="600"/>
              </a:spcAft>
              <a:defRPr sz="1440">
                <a:solidFill>
                  <a:srgbClr val="17324D"/>
                </a:solidFill>
                <a:latin typeface="Aptos"/>
              </a:defRPr>
            </a:pPr>
            <a:r>
              <a:t>4. Query Iceberg through Trino to prove the serving path.</a:t>
            </a:r>
          </a:p>
          <a:p>
            <a:pPr>
              <a:spcAft>
                <a:spcPts val="600"/>
              </a:spcAft>
              <a:defRPr sz="1440">
                <a:solidFill>
                  <a:srgbClr val="17324D"/>
                </a:solidFill>
                <a:latin typeface="Aptos"/>
              </a:defRPr>
            </a:pPr>
            <a:r>
              <a:t>5. Open Superset and show how BI connects through Trino, not directly to files.</a:t>
            </a:r>
          </a:p>
          <a:p>
            <a:pPr>
              <a:spcAft>
                <a:spcPts val="600"/>
              </a:spcAft>
              <a:defRPr sz="1440">
                <a:solidFill>
                  <a:srgbClr val="17324D"/>
                </a:solidFill>
                <a:latin typeface="Aptos"/>
              </a:defRPr>
            </a:pPr>
            <a:r>
              <a:t>6. Close with what changes for Kubernetes and what stays the same.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143000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600" b="1">
                <a:solidFill>
                  <a:srgbClr val="6B5CA5"/>
                </a:solidFill>
                <a:latin typeface="Aptos"/>
              </a:rPr>
              <a:t>Key messages to leave behind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408" y="1609344"/>
            <a:ext cx="4389120" cy="20574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50">
                <a:solidFill>
                  <a:srgbClr val="17324D"/>
                </a:solidFill>
                <a:latin typeface="Aptos"/>
              </a:defRPr>
            </a:pPr>
            <a:r>
              <a:t>Iceberg is the table contract and source of truth.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50">
                <a:solidFill>
                  <a:srgbClr val="17324D"/>
                </a:solidFill>
                <a:latin typeface="Aptos"/>
              </a:defRPr>
            </a:pPr>
            <a:r>
              <a:t>MinIO is only local S3-compatible storage; the pattern maps to cloud storage.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50">
                <a:solidFill>
                  <a:srgbClr val="17324D"/>
                </a:solidFill>
                <a:latin typeface="Aptos"/>
              </a:defRPr>
            </a:pPr>
            <a:r>
              <a:t>The REST catalog makes Spark and Trino agree on tables.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50">
                <a:solidFill>
                  <a:srgbClr val="17324D"/>
                </a:solidFill>
                <a:latin typeface="Aptos"/>
              </a:defRPr>
            </a:pPr>
            <a:r>
              <a:t>The same jobs can run manually or through Airflow.</a:t>
            </a:r>
          </a:p>
          <a:p>
            <a:pPr marL="228600" indent="-114300">
              <a:buChar char="-"/>
              <a:lnSpc>
                <a:spcPct val="108000"/>
              </a:lnSpc>
              <a:spcAft>
                <a:spcPts val="700"/>
              </a:spcAft>
              <a:defRPr sz="1350">
                <a:solidFill>
                  <a:srgbClr val="17324D"/>
                </a:solidFill>
                <a:latin typeface="Aptos"/>
              </a:defRPr>
            </a:pPr>
            <a:r>
              <a:t>Gold tables are the clean handoff to BI and reporting.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4443984"/>
            <a:ext cx="4160520" cy="749808"/>
          </a:xfrm>
          <a:prstGeom prst="rect">
            <a:avLst/>
          </a:prstGeom>
          <a:solidFill>
            <a:srgbClr val="F5F1FF"/>
          </a:solidFill>
          <a:ln w="11430"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4443984"/>
            <a:ext cx="73152" cy="749808"/>
          </a:xfrm>
          <a:prstGeom prst="rect">
            <a:avLst/>
          </a:prstGeom>
          <a:solidFill>
            <a:srgbClr val="6B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8855" y="4535424"/>
            <a:ext cx="3904487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280">
                <a:solidFill>
                  <a:srgbClr val="6B5CA5"/>
                </a:solidFill>
                <a:latin typeface="Aptos"/>
              </a:rPr>
              <a:t>Recommended first demo</a:t>
            </a:r>
          </a:p>
          <a:p>
            <a:pPr>
              <a:lnSpc>
                <a:spcPct val="105000"/>
              </a:lnSpc>
              <a:spcBef>
                <a:spcPts val="300"/>
              </a:spcBef>
              <a:defRPr sz="1080">
                <a:solidFill>
                  <a:srgbClr val="5C6A7A"/>
                </a:solidFill>
                <a:latin typeface="Aptos"/>
              </a:defRPr>
            </a:pPr>
            <a:r>
              <a:t>Sales orders for a quick path; FCH for the full raw -&gt; bronze -&gt; silver -&gt; gold 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56848" y="6464808"/>
            <a:ext cx="384048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/>
            <a:r>
              <a:rPr sz="750" b="0">
                <a:solidFill>
                  <a:srgbClr val="A4AEB9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Iceberg Local Platform - Tech Stack and Architecture</dc:title>
  <dc:subject>Team overview deck for project technology stack and architecture</dc:subject>
  <dc:creator>Codex</dc:creator>
  <cp:keywords>Apache Iceberg, Spark, Trino, Airflow, Superset, MinIO, Docker Compose</cp:keywords>
  <dc:description>Generated from repository README, docker-compose.yml, configuration, DAGs, and job files.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